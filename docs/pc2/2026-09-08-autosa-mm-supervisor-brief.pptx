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Csynth latency min (cycles)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Flash 90-skill</c:v>
                </c:pt>
                <c:pt idx="1">
                  <c:v>Compute rewrite</c:v>
                </c:pt>
                <c:pt idx="2">
                  <c:v>Enforcement</c:v>
                </c:pt>
                <c:pt idx="3">
                  <c:v>Stream +skills</c:v>
                </c:pt>
                <c:pt idx="4">
                  <c:v>Stream no JSON</c:v>
                </c:pt>
                <c:pt idx="5">
                  <c:v>AutoSA rank-1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139484</c:v>
                </c:pt>
                <c:pt idx="1">
                  <c:v>13160</c:v>
                </c:pt>
                <c:pt idx="2">
                  <c:v>12893</c:v>
                </c:pt>
                <c:pt idx="3">
                  <c:v>4292</c:v>
                </c:pt>
                <c:pt idx="4">
                  <c:v>4216</c:v>
                </c:pt>
                <c:pt idx="5">
                  <c:v>4228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1A1A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Csynth latency (cycles)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min DSP 500</c:v>
                </c:pt>
                <c:pt idx="1">
                  <c:v>+512-bit I/O</c:v>
                </c:pt>
                <c:pt idx="2">
                  <c:v>+write-once C</c:v>
                </c:pt>
                <c:pt idx="3">
                  <c:v>+PE_BLK=16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9423</c:v>
                </c:pt>
                <c:pt idx="1">
                  <c:v>2760</c:v>
                </c:pt>
                <c:pt idx="2">
                  <c:v>1261</c:v>
                </c:pt>
                <c:pt idx="3">
                  <c:v>940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two comparisons. Do not put 940 next to 4228. Do not say DSE.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Trap: an older plainseed_stream run generated AutoSA rank-1 and stripped pragmas. This study does not use that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one slide mixes 940 and 4228 as a speedup, the rest of the talk is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90-skill flash 139484 / 10 DSP is a legal kernel with almost no MAC parallelism. PE recipe + stream close rank-1.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Candidate 9 is 2-D J×K tiles (array_part[64,32,32], ~1296 DSP). Do not present cand-9 as Design 1. Planned rank-1-shaped manual uses A 16×32, B 64×32, C 16×64 — different from the 940 champion.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Stream is packed FIFOs + Crow ram_2p + flatten pe_kj, not the existence of a DATAFLOW pragma. Rank-1 interval ≈ latency because of K-tiles / B ping-pong / C drain.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Classify by transfer, not filename. Mixing this pack into flash does not invent 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say DSE. The PE recipe is fixed for the locked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pack is hide load-store on the 16×4 array. Mixing it into flash does not invent 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quote enforcement interval as the result. This column is not the systolic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put 940 next to 4228. Keep this pack out of the 90-skill dump and frozen mmflow.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j-tile ping-pong was worse (not shown). Champion remains 940. DSP 5344 = 59% of 9024, 177% of one SLR — allowed on comparison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 latency min/max 940 and DSP 5344. Do not quote interval 941 or estimated 2.431 ns as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463040" cy="64008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11338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Closing the AutoSA matrix-multiply gap
with an LLM HLS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063240"/>
            <a:ext cx="11338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D8E8"/>
                </a:solidFill>
                <a:latin typeface="Calibri"/>
              </a:rPr>
              <a:t>Kernel autosa_mm  (I = J = K = 64, float)   ·   Alveo U280, 3.33 ns, Vitis HLS 2023.2
Reference: AutoSA rank-1 HLS (paper Fig. 11a Design 1 class), not ChatHLS
Agent: DeepSeek-v4-flash   ·   seed: plain.cpp, not stripped kernel0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5321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0E0"/>
                </a:solidFill>
                <a:latin typeface="Calibri"/>
              </a:rPr>
              <a:t>Supervisor briefing  ·  answers to the requested study  ·  8 September 2026
Metrics: latency min, latency max, DSP. Interval and HLS estimated clock are not comparison metrics.
Middle stage is a 16×4 compute rewrite (hide load-store), not AutoSA design-space search.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Held fixed for the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Experimental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960120"/>
          <a:ext cx="11338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961120"/>
              </a:tblGrid>
              <a:tr h="26416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</a:tr>
              <a:tr h="2641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Kernel / size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autosa_mm, I = J = K = 64, typedef float data_t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ABI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extern "C" void autosa_mm(A[I][K], B[J][K], C[I][J])  —  B stored B[j][k]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41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Gold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 = A · B from zero. Kernel must not treat DRAM C as an accumulate input.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Device / tool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xcu280-fsvh2892-2L-e  ·  Vitis HLS 2023.2  ·  clock 3.33 ns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41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related_work/.../autosa_mm/plain.cpp. Not stripped AutoSA kernel0.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AutoSA rank-1 4228 cycles / 320 DSP (Design 1, 1-D along i). Not ChatHLS.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41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DeepSeek-v4-flash. Cosim off except where named.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Reported metrics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Latency min, latency max, DSP. Do not quote interval or estimated clock.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The questions were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Two comparisons  —  do not mix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05840"/>
            <a:ext cx="5532120" cy="5212080"/>
          </a:xfrm>
          <a:prstGeom prst="rect">
            <a:avLst/>
          </a:prstGeom>
          <a:solidFill>
            <a:srgbClr val="F4F1EA"/>
          </a:solidFill>
          <a:ln w="12700">
            <a:solidFill>
              <a:srgbClr val="C8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005840"/>
            <a:ext cx="5532120" cy="5212080"/>
          </a:xfrm>
          <a:prstGeom prst="rect">
            <a:avLst/>
          </a:prstGeom>
          <a:solidFill>
            <a:srgbClr val="F4F1EA"/>
          </a:solidFill>
          <a:ln w="12700">
            <a:solidFill>
              <a:srgbClr val="C8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43000"/>
            <a:ext cx="5257800" cy="384048"/>
          </a:xfrm>
          <a:prstGeom prst="rect">
            <a:avLst/>
          </a:prstGeom>
          <a:solidFill>
            <a:srgbClr val="0F2C52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Comparison 1  ·  iso-compute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143000"/>
            <a:ext cx="5257800" cy="384048"/>
          </a:xfrm>
          <a:prstGeom prst="rect">
            <a:avLst/>
          </a:prstGeom>
          <a:solidFill>
            <a:srgbClr val="0F2C52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Comparison 2  ·  spend DSP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9164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C52"/>
                </a:solidFill>
                <a:latin typeface="Calibri"/>
              </a:rPr>
              <a:t>16 PE × SIMD 4  ≈  320 DSP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Same MAC budget as AutoSA rank-1.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2C52"/>
                </a:solidFill>
                <a:latin typeface="Calibri"/>
              </a:rPr>
              <a:t>AutoSA rank-1:  4228 / 320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Agent stream (empty skills JSON):  4216 / 320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Agent stream (90-skill mmflow):  4292 / 320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Aug 18 first locked stream:  4285 / 320</a:t>
            </a:r>
          </a:p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A4A4A"/>
                </a:solidFill>
                <a:latin typeface="Calibri"/>
              </a:rPr>
              <a:t>Fair architecture-class comparison.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Pass band used later: ≤ ×1.02 (4312).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C52"/>
                </a:solidFill>
                <a:latin typeface="Calibri"/>
              </a:rPr>
              <a:t>Flash allowed to spend U280 DSP (9024)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Not a fair beat of 4228. ~17× DSP.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2C52"/>
                </a:solidFill>
                <a:latin typeface="Calibri"/>
              </a:rPr>
              <a:t>Champion:  940 / 5344   (csynth)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Cosim PASS 1071. Kernel type: no.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B1E1E"/>
                </a:solidFill>
                <a:latin typeface="Calibri"/>
              </a:rPr>
              <a:t>Do not put 940 or 871 next to 4228.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871 csynth / 1224 cosim is fused I/O,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not the champion and not this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17 August  ·  what was held, what was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1. Original request: one kernel, gap vs rank-1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914400"/>
          <a:ext cx="11338559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6472"/>
                <a:gridCol w="3776472"/>
                <a:gridCol w="3785615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Held fixed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Not held fixed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Not done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Top name, ABI, B layout J×K, U280, 3.33 ns, gold-from-zero TB, iso-compute 16×4 on comparison 1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Internal nest. Flash, compute rewrite, and stream each change the code. That is the method.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AutoSA array_part / space_time / simd search. We did not call AutoSA. We did not emit kernel0 / A_t16 / L2 FIFOs as the agent result.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2880360"/>
            <a:ext cx="11338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C52"/>
                </a:solidFill>
                <a:latin typeface="Calibri"/>
              </a:rPr>
              <a:t>What AutoSA automates, cloned as a plan (not the compiler)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(1) Many PEs that do not wait on one running total — compute rewrite, PE=16 SIMD=4 via post_flash_pe_recipe.py.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(2) Memory filling the next chapter while they work — stream rewrite: DATAFLOW + hls::stream, A private per PE, B forwarded, C drained.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Knobs for this mm were fixed at 16×4. We did not hunt them on the locked slide.</a:t>
            </a:r>
          </a:p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4A4A4A"/>
                </a:solidFill>
                <a:latin typeface="Calibri"/>
              </a:rPr>
              <a:t>Disk still labels the middle stage dse. Slides say compute rewrite / hide load-store.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Csynth latency min, cycles  ·  naive 2 445 313 omitted from the plot (destroys scale)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Iso-compute path (comparison 1)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914400"/>
          <a:ext cx="11338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5074920"/>
            <a:ext cx="11338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Flash / compute / stream: frozen 20260830_mmflow. Enforcement: 20260829_123043.
Rank-1: AutoSA 20260709_full21_dse resynth 3.33 ns. Aug 18 first locked stream (nav_n) was 4285 / 320; mmflow with-skills is 4292 / 320.
Gap vs 4228: with-skills +64 cycles (+1.5%); empty-JSON stream −12 cycles (−0.3%). Wave1 pass band ≤ 4312.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Comparison 1  ·  latency min–max and DSP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Pipeline stages (frozen mmflow unless noted)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914400"/>
          <a:ext cx="1133856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657600"/>
                <a:gridCol w="1828800"/>
                <a:gridCol w="777240"/>
                <a:gridCol w="3108960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Latency min–max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DSP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Campaign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Phase B naive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Functional HLS, no opt pack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2 445 313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hls_synth__ref_baseline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Flash 90-skill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Legal kernel + generic HLS pack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139 484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20260830_mmflow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Compute rewrite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16×4 on-chip PEs, II=1 compute, LCST serial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13 160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352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20260830_mmflow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Enforcement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Ping-pong DATAFLOW judged present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12 893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20260829_123043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Stream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Hide load/store on that array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4292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20260830_mmflow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Stream, empty JSON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Same PE recipe, skill_count=0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4216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20260902_mmns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AutoSA rank-1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Published Design 1 class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4228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AutoSA inventory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58064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C52"/>
                </a:solidFill>
                <a:latin typeface="Calibri"/>
              </a:rPr>
              <a:t>Attribution at 320 DSP: PE recipe + stream skeleton, not the 90-skill dump. Empty JSON still closes rank-1.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Requested pack-level, not skill 3 of 5  ·  same ABI, csim on, cosim 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2. Ablation: generic HLS vs enforcement vs systolic rewrite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914400"/>
          <a:ext cx="1133856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566160"/>
                <a:gridCol w="1371600"/>
                <a:gridCol w="731520"/>
                <a:gridCol w="5029200"/>
              </a:tblGrid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Col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was given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DSP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Generic HLS (90-skill flash)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139 484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Legal kernel, no PE array. Almost no MAC parallelism.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Skills + ping-pong/DATAFLOW enforcement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12 893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Pragma present. Finish still load+compute+store. Overlap gate fail.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3a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Systolic: 90-skill + PE recipe + stream pack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4292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+1.5% vs 4228.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7066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3b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Same PE recipe; skills JSON empty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4216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−0.3% vs 4228.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4434840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The PE recipe plus stream skeleton matter more than the 90-skill dump. Generic flash can emit a legal kernel with 10 DSP. Empty JSON still closes rank-1 if the compute-rewrite/stream path still instantiates 16×4.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Column 1 is not a PE-free baseline of the systolic path: it is the 90-skill flash kernel. Column 3b is the systolic PE recipe with the skill JSON emptied.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Repair success = csim + legal csynth. No DSP / II judge until 3 September.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3. Why flash was II=4 / low DSP, and why later stages sat on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914400"/>
          <a:ext cx="1133856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229600"/>
              </a:tblGrid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Fact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Number / mechanism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Aug 18 flash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149 082 cycles, 6 DSP, II=4 on k (scalar FP-add recurrence)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Frozen mmflow flash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139 484 cycles, 10 DSP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Flash job definition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Legal, testbench-correct HLS with interfaces. Success = csim pass + csynth.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Why repair did not catch II=4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Repair loops on compile / csim / csynth failure, not on II or DSP. An II=4 kernel synthesizes.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Compute rewrite after that flash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13 160 / 352. Compute nest ~4816 at II=1. Remaining: sequential load ~4100 + store ~4100.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648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Wrong comparison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Measuring flash vs AutoSA 4228 is not iso-compute. Flash is not the PE array.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58064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C52"/>
                </a:solidFill>
                <a:latin typeface="Calibri"/>
              </a:rPr>
              <a:t>Section 8 (spend DSP) answers “flash itself must stop under-using DSP.” Multi-PE replaces the nest; it does not require flash II=1.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array_part[16, 64, 32]  ·  latency[1, 32]  ·  simd[4]  ·  1-D along i  ·  4228 / 320 DSP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Tiling A. AutoSA rank-1  (Design 1 class)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Tile sizes from kernel0 / autosa-mm-rank1-tiles  ·  not candidate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16 PEs in a chain (not a 2-D i,j or i,k mesh). PE p owns C row i0+p, all 64 columns, as local_C[64].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115568"/>
            <a:ext cx="566928" cy="384048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78408" y="1307592.0"/>
            <a:ext cx="73152" cy="0.0"/>
          </a:xfrm>
          <a:prstGeom prst="line">
            <a:avLst/>
          </a:prstGeom>
          <a:ln w="19050">
            <a:solidFill>
              <a:srgbClr val="0F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51560" y="1115568"/>
            <a:ext cx="566928" cy="384048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18488" y="1307592.0"/>
            <a:ext cx="73152" cy="0.0"/>
          </a:xfrm>
          <a:prstGeom prst="line">
            <a:avLst/>
          </a:prstGeom>
          <a:ln w="19050">
            <a:solidFill>
              <a:srgbClr val="0F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691640" y="1115568"/>
            <a:ext cx="566928" cy="384048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58568" y="1307592.0"/>
            <a:ext cx="73152" cy="0.0"/>
          </a:xfrm>
          <a:prstGeom prst="line">
            <a:avLst/>
          </a:prstGeom>
          <a:ln w="19050">
            <a:solidFill>
              <a:srgbClr val="0F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331720" y="1115568"/>
            <a:ext cx="566928" cy="384048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98648" y="1307592.0"/>
            <a:ext cx="73152" cy="0.0"/>
          </a:xfrm>
          <a:prstGeom prst="line">
            <a:avLst/>
          </a:prstGeom>
          <a:ln w="19050">
            <a:solidFill>
              <a:srgbClr val="0F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971800" y="1115568"/>
            <a:ext cx="566928" cy="384048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38728" y="1307592.0"/>
            <a:ext cx="73152" cy="0.0"/>
          </a:xfrm>
          <a:prstGeom prst="line">
            <a:avLst/>
          </a:prstGeom>
          <a:ln w="19050">
            <a:solidFill>
              <a:srgbClr val="0F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611880" y="1115568"/>
            <a:ext cx="566928" cy="384048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78808" y="1307592.0"/>
            <a:ext cx="73152" cy="0.0"/>
          </a:xfrm>
          <a:prstGeom prst="line">
            <a:avLst/>
          </a:prstGeom>
          <a:ln w="19050">
            <a:solidFill>
              <a:srgbClr val="0F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251960" y="1115568"/>
            <a:ext cx="566928" cy="384048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18888" y="1307592.0"/>
            <a:ext cx="73152" cy="0.0"/>
          </a:xfrm>
          <a:prstGeom prst="line">
            <a:avLst/>
          </a:prstGeom>
          <a:ln w="19050">
            <a:solidFill>
              <a:srgbClr val="0F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892040" y="1115568"/>
            <a:ext cx="566928" cy="384048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PE7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58968" y="1307592.0"/>
            <a:ext cx="73152" cy="0.0"/>
          </a:xfrm>
          <a:prstGeom prst="line">
            <a:avLst/>
          </a:prstGeom>
          <a:ln w="19050">
            <a:solidFill>
              <a:srgbClr val="0F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532120" y="1115568"/>
            <a:ext cx="566928" cy="384048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9048" y="1307592.0"/>
            <a:ext cx="73152" cy="0.0"/>
          </a:xfrm>
          <a:prstGeom prst="line">
            <a:avLst/>
          </a:prstGeom>
          <a:ln w="19050">
            <a:solidFill>
              <a:srgbClr val="0F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172200" y="1115568"/>
            <a:ext cx="566928" cy="384048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PE9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39128" y="1307592.0"/>
            <a:ext cx="73152" cy="0.0"/>
          </a:xfrm>
          <a:prstGeom prst="line">
            <a:avLst/>
          </a:prstGeom>
          <a:ln w="19050">
            <a:solidFill>
              <a:srgbClr val="0F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812280" y="1115568"/>
            <a:ext cx="566928" cy="384048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PE10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79208" y="1307592.0"/>
            <a:ext cx="73152" cy="0.0"/>
          </a:xfrm>
          <a:prstGeom prst="line">
            <a:avLst/>
          </a:prstGeom>
          <a:ln w="19050">
            <a:solidFill>
              <a:srgbClr val="0F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452360" y="1115568"/>
            <a:ext cx="566928" cy="384048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PE11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019288" y="1307592.0"/>
            <a:ext cx="73152" cy="0.0"/>
          </a:xfrm>
          <a:prstGeom prst="line">
            <a:avLst/>
          </a:prstGeom>
          <a:ln w="19050">
            <a:solidFill>
              <a:srgbClr val="0F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092440" y="1115568"/>
            <a:ext cx="566928" cy="384048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PE12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59368" y="1307592.0"/>
            <a:ext cx="73152" cy="0.0"/>
          </a:xfrm>
          <a:prstGeom prst="line">
            <a:avLst/>
          </a:prstGeom>
          <a:ln w="19050">
            <a:solidFill>
              <a:srgbClr val="0F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732520" y="1115568"/>
            <a:ext cx="566928" cy="384048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PE13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99448" y="1307592.0"/>
            <a:ext cx="73152" cy="0.0"/>
          </a:xfrm>
          <a:prstGeom prst="line">
            <a:avLst/>
          </a:prstGeom>
          <a:ln w="19050">
            <a:solidFill>
              <a:srgbClr val="0F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372600" y="1115568"/>
            <a:ext cx="566928" cy="384048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PE14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939528" y="1307592.0"/>
            <a:ext cx="73152" cy="0.0"/>
          </a:xfrm>
          <a:prstGeom prst="line">
            <a:avLst/>
          </a:prstGeom>
          <a:ln w="19050">
            <a:solidFill>
              <a:srgbClr val="0F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0012680" y="1115568"/>
            <a:ext cx="566928" cy="384048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1517904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B forwarded PE p → PE p+1 each beat.  SIMD-k = 4 independent a[s]·b[s], then one add into Crow. Reduction is the outer K-tile.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1874519"/>
            <a:ext cx="3566160" cy="292608"/>
          </a:xfrm>
          <a:prstGeom prst="rect">
            <a:avLst/>
          </a:prstGeom>
          <a:solidFill>
            <a:srgbClr val="0F2C52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  (I × K = 64 × 64)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2203703"/>
            <a:ext cx="356616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800" b="1" i="0">
                <a:solidFill>
                  <a:srgbClr val="0F2C52"/>
                </a:solidFill>
                <a:latin typeface="Calibr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" y="2313431"/>
            <a:ext cx="3346704" cy="1417320"/>
          </a:xfrm>
          <a:prstGeom prst="rect">
            <a:avLst/>
          </a:prstGeom>
          <a:solidFill>
            <a:srgbClr val="C5D4E8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200" b="1" i="0">
                <a:solidFill>
                  <a:srgbClr val="0F2C52"/>
                </a:solidFill>
                <a:latin typeface="Calibri"/>
              </a:rPr>
              <a:t>Live this step:
16 rows × 32 k
(I-tile × K-tile)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4197095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4 I-tiles (c0 = 0…3). A unique from DRAM.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97680" y="1874519"/>
            <a:ext cx="3566160" cy="292608"/>
          </a:xfrm>
          <a:prstGeom prst="rect">
            <a:avLst/>
          </a:prstGeom>
          <a:solidFill>
            <a:srgbClr val="0F2C52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  (J × K, stored B[j][k])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2203703"/>
            <a:ext cx="356616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800" b="1" i="0">
                <a:solidFill>
                  <a:srgbClr val="0F2C52"/>
                </a:solidFill>
                <a:latin typeface="Calibri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4407408" y="2313431"/>
            <a:ext cx="3346704" cy="1417320"/>
          </a:xfrm>
          <a:prstGeom prst="rect">
            <a:avLst/>
          </a:prstGeom>
          <a:solidFill>
            <a:srgbClr val="C5D4E8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200" b="1" i="0">
                <a:solidFill>
                  <a:srgbClr val="0F2C52"/>
                </a:solidFill>
                <a:latin typeface="Calibri"/>
              </a:rPr>
              <a:t>Live this step:
64 × 32  (full J × K-tile)
ping-pong on-chip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97680" y="4197095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J is not coarse-tiled. B replay once per I-tile (4× DRAM B).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83879" y="1874519"/>
            <a:ext cx="3566160" cy="292608"/>
          </a:xfrm>
          <a:prstGeom prst="rect">
            <a:avLst/>
          </a:prstGeom>
          <a:solidFill>
            <a:srgbClr val="0F2C52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  (I × J = 64 × 64)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83879" y="2203703"/>
            <a:ext cx="356616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800" b="1" i="0">
                <a:solidFill>
                  <a:srgbClr val="0F2C52"/>
                </a:solidFill>
                <a:latin typeface="Calibri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8293607" y="2313431"/>
            <a:ext cx="3346704" cy="1417320"/>
          </a:xfrm>
          <a:prstGeom prst="rect">
            <a:avLst/>
          </a:prstGeom>
          <a:solidFill>
            <a:srgbClr val="C5D4E8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200" b="1" i="0">
                <a:solidFill>
                  <a:srgbClr val="0F2C52"/>
                </a:solidFill>
                <a:latin typeface="Calibri"/>
              </a:rPr>
              <a:t>Live in the PE:
16 rows × 64 cols
local_C[64] per 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79" y="4197095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Drain C only on last k-group of K-tile 1. Gold from zero: no load_C.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411480" y="4709160"/>
          <a:ext cx="113385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114800"/>
                <a:gridCol w="2468880"/>
                <a:gridCol w="365760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Loop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Tiles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On-chip this step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I/O schedule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c0  (I)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 × 16 rows  (i = 0–15, 16–31, 32–47, 48–63)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A 16×32; C 16×64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A unique; B replayed each I-tile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c2  (K)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 × 32 k  (k = 0–31 then 32–63)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 64×32 ping-pong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Fill tile t+1 while PE consumes tile t (paper §6.3)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J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not coarse-tiled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full C row of 64 in each PE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Inner c6/c4 walk 32+32 j; drain after last K-tile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Comparison 1  ·  same 16×4  ·  320 DSP  ·  not the 940 kernel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Tiling B. Agent iso-compute stream vs enforcement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868680"/>
            <a:ext cx="5623560" cy="5532120"/>
          </a:xfrm>
          <a:prstGeom prst="rect">
            <a:avLst/>
          </a:prstGeom>
          <a:solidFill>
            <a:srgbClr val="F4F1EA"/>
          </a:solidFill>
          <a:ln w="12700">
            <a:solidFill>
              <a:srgbClr val="C8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960120"/>
            <a:ext cx="5440680" cy="347472"/>
          </a:xfrm>
          <a:prstGeom prst="rect">
            <a:avLst/>
          </a:prstGeom>
          <a:solidFill>
            <a:srgbClr val="0F2C52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Hide load-store  ·  4292 / 4216 cycles  ·  320 DSP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5349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2C52"/>
                </a:solidFill>
                <a:latin typeface="Calibri"/>
              </a:rPr>
              <a:t>Same PE geometry as Design 1: 16 PE × SIMD 4, 1-D along i.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Frozen mmflow parked full B on an I-strip (not rank-1 K-tiles of 32). Still closes 4228 at 320 DSP.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606040"/>
            <a:ext cx="566928" cy="329184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52728" y="2606040"/>
            <a:ext cx="566928" cy="329184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11095" y="2606040"/>
            <a:ext cx="566928" cy="329184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9464" y="2606040"/>
            <a:ext cx="566928" cy="329184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7832" y="2606040"/>
            <a:ext cx="566928" cy="329184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2606040"/>
            <a:ext cx="566928" cy="329184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4568" y="2606040"/>
            <a:ext cx="566928" cy="329184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02936" y="2606040"/>
            <a:ext cx="566928" cy="329184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900" b="1" i="0">
                <a:solidFill>
                  <a:srgbClr val="0F2C52"/>
                </a:solidFill>
                <a:latin typeface="Calibri"/>
              </a:rPr>
              <a:t>PE7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97180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… PE8–PE15  ·  A private per PE  ·  B forwarded  ·  C drained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246120"/>
            <a:ext cx="24688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100" b="1" i="0">
                <a:solidFill>
                  <a:srgbClr val="0F2C52"/>
                </a:solidFill>
                <a:latin typeface="Calibri"/>
              </a:rPr>
              <a:t>Packed FIFOs
ap_uint&lt;128&gt;
SIMD 4 floats / beat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246120"/>
            <a:ext cx="24688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100" b="1" i="0">
                <a:solidFill>
                  <a:srgbClr val="0F2C52"/>
                </a:solidFill>
                <a:latin typeface="Calibri"/>
              </a:rPr>
              <a:t>Crow BIND_STORAGE
ram_2p  (not complete-
partition on J)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114800"/>
            <a:ext cx="507492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200" b="1" i="0">
                <a:solidFill>
                  <a:srgbClr val="0F2C52"/>
                </a:solidFill>
                <a:latin typeface="Calibri"/>
              </a:rPr>
              <a:t>Flatten pe_kj  1024 / 4096 beats
Fuse Crow init + drain into MAC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846320"/>
            <a:ext cx="5349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One run ≈ slowest room. Load, 16 PEs, and store run together.
Failures taught as avoid-rules: struct-of-float FIFOs 16 878 / 80 DSP; Crow complete-partition J → mux II=4; flatten-off refill 7162.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868680"/>
            <a:ext cx="5577840" cy="5532120"/>
          </a:xfrm>
          <a:prstGeom prst="rect">
            <a:avLst/>
          </a:prstGeom>
          <a:solidFill>
            <a:srgbClr val="F4F1EA"/>
          </a:solidFill>
          <a:ln w="12700">
            <a:solidFill>
              <a:srgbClr val="C8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960120"/>
            <a:ext cx="5394960" cy="347472"/>
          </a:xfrm>
          <a:prstGeom prst="rect">
            <a:avLst/>
          </a:prstGeom>
          <a:solidFill>
            <a:srgbClr val="8B1E1E"/>
          </a:solidFill>
          <a:ln w="15875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Enforcement DATAFLOW + ping-pong  ·  12 893 / 320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4173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8B1E1E"/>
                </a:solidFill>
                <a:latin typeface="Calibri"/>
              </a:rPr>
              <a:t>Judge: ping-pong DATAFLOW present on code and csynth.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Finish time is still the sum of rooms. Interval is not the result.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2468880"/>
            <a:ext cx="49377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400" b="1" i="0">
                <a:solidFill>
                  <a:srgbClr val="0F2C52"/>
                </a:solidFill>
                <a:latin typeface="Calibri"/>
              </a:rPr>
              <a:t>load   ~4100   ·  DRAM A/B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0358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1E1E"/>
                </a:solidFill>
                <a:latin typeface="Calibri"/>
              </a:rPr>
              <a:t>↓  not hidden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3310128"/>
            <a:ext cx="49377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400" b="1" i="0">
                <a:solidFill>
                  <a:srgbClr val="0F2C52"/>
                </a:solidFill>
                <a:latin typeface="Calibri"/>
              </a:rPr>
              <a:t>compute   ~4816   ·  16×4, II=1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1E1E"/>
                </a:solidFill>
                <a:latin typeface="Calibri"/>
              </a:rPr>
              <a:t>↓  not hidden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4151376"/>
            <a:ext cx="49377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400" b="1" i="0">
                <a:solidFill>
                  <a:srgbClr val="0F2C52"/>
                </a:solidFill>
                <a:latin typeface="Calibri"/>
              </a:rPr>
              <a:t>store   ~4100   ·  DRAM 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0749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Aug 23 overlap seed 8678 / 320: architecture gate fail (coarse tile overlap, inner stretches restart). Manual pe_pp 9640 / 352; pe_pp_plus 4688 / 352 — still not rank-1 I/O. mmflow overlap re-run Slurm 2789637: LLM timed 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Comparison 1  ·  finish time, not interval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4. Stream is not DATAFLOW + ping-pong on multi-PE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914400"/>
          <a:ext cx="1133856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463040"/>
                <a:gridCol w="822960"/>
                <a:gridCol w="6035040"/>
              </a:tblGrid>
              <a:tr h="26822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DSP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actually overlapped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Enforcement (column 3)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12 893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Pragma shape. Finish time ≠ max(modules).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Aug 23 overlap seed (not mmflow)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8678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Coarse tile overlap. Architecture gate fail.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Manual pe_pp on mmflow multi-PE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9640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352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csim pass. Still not rank-1 I/O.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Manual pe_pp_plus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4688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352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csim pass. Still not the stream pack.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Stream hide load/store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4292 / 4216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Load, 16 PEs, store together. Packed ap_uint&lt;128&gt;, Crow ram_2p, flatten pe_kj 4096.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5074920"/>
            <a:ext cx="11338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C52"/>
                </a:solidFill>
                <a:latin typeface="Calibri"/>
              </a:rPr>
              <a:t>Rank-1 interval ≈ latency because of a systolic I/O schedule (K-tiles, B ping-pong, C drain), not because a DATAFLOW pragma exists.
Do not quote enforcement interval 4553 as the result.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Gate: agent latency ≤ rank-1 × 1.02  ·  campaign 20260825_wave1_aav_n_gf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5. Other AutoSA mm-family benches, ≤ 2% of rank-1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12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914400"/>
          <a:ext cx="1133856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463040"/>
                <a:gridCol w="1188720"/>
                <a:gridCol w="822960"/>
                <a:gridCol w="4846320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Bench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Rank-1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DSP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vs ×1.02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autosa_mm (mmflow / noskills)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4292 / 4216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4228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autosa_mm_hcl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4294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4230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pass 1.51%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autosa_mm_hcl_intel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4292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4226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pass 1.56%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autosa_mm_int16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4280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4219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pass 1.45%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autosa_mm_catapult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8351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8286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pass 0.78%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autosa_mm_intel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4525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4178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fail 8.3% after retry 2789605 (ceiling 4261)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autosa_mm_getting_started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4525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2194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fail ~2× (rank-1 is two DATAFLOW tiles; agent I/PE=2)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56235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Four of six wave1 benches pass. Intel compute-rewrite LLM timed out; stream still ran and promoted 4525 / 640. Not this round: cnn, lu, large_*, HBM.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U280 has 9024 DSP. Rank-1 320 is iso-compute, not a fill of the chip.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6. Why 320 DSP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686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320  =  16 PE × SIMD 4 × ~5 DSP per float MAC at II=1. AutoSA chose that array for 64³ autosa_mm. The locked slide holds that point.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554480"/>
          <a:ext cx="1133856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286000"/>
                <a:gridCol w="1188720"/>
                <a:gridCol w="1005840"/>
                <a:gridCol w="4389120"/>
              </a:tblGrid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Array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DSP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vs 4228 / 320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16×4 (locked)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stream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4292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+1.5%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16×4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stream, empty JSON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4216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−0.3%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32×8  20260830_mm32x8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compute rewrite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9782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1344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more silicon, still sequential I/O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32×8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stream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4583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1280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worse than 16×4 stream (I/PE=2, pe_kj=512 × two tiles)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Family C iso-DSP 32-PE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io4_8x4_s8_k32_j64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2245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1280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misses AutoSA cand 9 ≤1846 at ~1296 DSP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64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Family C selected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io4_16x8_s8_k32_j64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1571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5120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faster only by oversubscribing DSP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56235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AutoSA exhaustive candidate 9 (2-D, not Design 1) is 1846–2161 / ~1296 DSP. Candidate 5 is 2033–2656. Paper Design 5 ≈ cand 9. Efficiency vs cand 9 is not closed. P&amp;R / bitstream later.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Transfer test: kernel-independent INTERFACE / PIPELINE / UNROLL / PARTITION / burst / LCST  ·  comparison 1 flash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Skill pack 1. Generic HLS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14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skills_ii_target_miss_solutions_added(90skills).json  (123 entries)  +  overlay flash_no_RMW_m_axi_skill_entries.json (33). Tagged kernel-independent.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170432"/>
          <a:ext cx="1133856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4160520"/>
                <a:gridCol w="5212080"/>
              </a:tblGrid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Exemplar skill id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One-line role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Burst / INTERFACE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axi-burst-widening-512, axi-burst-coalescing-narrow-safe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512-bit m_axi widening; keep scalar pointer ABI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prompt-pipeline, hls-pipeline-hot-loop-achieve-ii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Pick the hot loop; resolve II; not pragma-only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UNROLL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prompt-unroll, hls-unroll-independent-loop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Unroll independent loops after independence is proven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PARTITION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partition-cyclic-on-port-conflict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Bank local arrays to match unroll / pipeline ports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LCST staging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hls-pipeline-stage-global-memory, local-axi-staging-for-ii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Stage off m_axi before compute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64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No RMW overlay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avoid-no-rmw-m_axi-direct, hls-load-compute-store-no-rmw-m_axi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No m_axi accumulate; distinct gmem bundles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11480" y="4709160"/>
            <a:ext cx="11338560" cy="868680"/>
          </a:xfrm>
          <a:prstGeom prst="rect">
            <a:avLst/>
          </a:prstGeom>
          <a:solidFill>
            <a:srgbClr val="F4F1EA"/>
          </a:solidFill>
          <a:ln w="15875">
            <a:solidFill>
              <a:srgbClr val="8B6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Contamination (transfer test fails): hls-baseline-load-compute-store-gate and hls-doublebuffer-load-compute-store
encode PE_BLK ∈ {16,32,64}, 64×64 float LANES=16, and GEMM ping-pong buf[2]. That is not kernel-independent.
This kernel: mmflow flash 139 484 cycles / 10 DSP. Legal. No 16×4 array. Not a systolic pass.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gemm_flatten_v1  +  post_flash_pe_skill_entries.json  +  post_flash_pe_recipe.py  ·  comparison 1 compute rewrite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Skill pack 2. GEMM-family  (not AutoSA, not systolic I/O)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15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0467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Calibri"/>
              </a:rPr>
              <a:t>File on disk is still named post_flash_dse_pe_skill_entries.json. Slides: compute rewrite. IDs below are the file ids.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115568"/>
          <a:ext cx="113385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7040880"/>
              </a:tblGrid>
              <a:tr h="26334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Skill id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hls-gemm-static-nest-flatten-and-k-partition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Flatten i/k/j on a static nest; partition K so unrolled MACs have ports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hls-avoid-serial-fp-acc-under-full-k-unroll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Reject a single FP acc after claiming full-K unroll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hls-avoid-pipeline-innermost-only-goal-on-gemm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Innermost-only PIPELINE is not the GEMM pass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hls-avoid-outer-sequential-gemm-after-inner-pipeline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Do not leave i sequential after an inner II=1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hls-dse-gemm-multi-pe-latency-hiding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Rewrite compute nest into row PEs; pipeline independent j; keep LCST ABI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hls-dse-gemm-simd-k-adder-tree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SIMD-k=4 unrolled adder tree; pipelined loop is j, not k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hls-dse-partition-match-pe-simd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Crow complete on PE dim; A cyclic PE×SIMD; B cyclic SIMD on K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avoid-dse-k-recurrence-on-single-c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Reject k-loop recurrence on one C element (II=4, DSP~3–8)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3349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hls-dse-pick-pe-simd-for-kernel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Read kernel.h + recipe. autosa_mm default 16×4; not a search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580644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C52"/>
                </a:solidFill>
                <a:latin typeface="Calibri"/>
              </a:rPr>
              <a:t>This kernel: compute rewrite 13 160 / 352 DSP. Compute nest ~4816 at II=1. Remaining latency is sequential load ~4100 + store ~4100. Recipe for autosa_mm is PE=16 SIMD=4 (post_flash_pe_recipe.py), not a design-space search.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post_flash_stream_pe_io_skill_entries.json  (6 skills)  ·  AutoSA I/O plan, not kernel0  ·  comparison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Skill pack 3. Systolic / hide load-store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16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868680"/>
          <a:ext cx="1133856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7543800"/>
              </a:tblGrid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Skill id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hls-stream-pe-array-dataflow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PE_NUM mm_pe tasks under DATAFLOW; packed ap_uint FIFOs; Crow ram_2p; flatten pe_kj; fuse init/drain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hls-stream-io-overlap-dram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load_A / load_B / store_C as INLINE-off DRAM tasks; compute never touches m_axi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hls-stream-b-systolic-forward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Packed vec4_bits along the PE chain; always forward; drain_B consumes fifo_B[PE_NUM]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hls-stream-match-pe-pack-to-data-t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Pack SIMD as ap_uint&lt;pack_bits&gt;; float 16×4 → ap_uint&lt;128&gt;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hls-stream-tile-loop-around-dataflow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If I/PE&gt;1, wrap DATAFLOW in the top i-tile; do not loop tiles inside mm_pe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648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avoid-stream-shared-local-abc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Reject shared on-chip A/B/C across DATAFLOW tasks; reject kernel0 clone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5074920"/>
            <a:ext cx="11338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2C52"/>
                </a:solidFill>
                <a:latin typeface="Calibri"/>
              </a:rPr>
              <a:t>autosa_mm: PE_NUM=16, SIMD=4, pe_kj = (K/SIMD)×J = 1024 beats per I-strip, 4096 across four I-strips. Crow BIND_STORAGE ram_2p — never complete-partition J.
This kernel: stream 4292 / 320 (90-skill mmflow) or 4216 / 320 (empty JSON, same PE recipe). Failures taught here: struct-of-float FIFOs 16 878 / 80; Crow complete-partition J → II=4; flatten-off 7162.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post_flash_overlap_pe_skill_entries.json  (3 skills)  ·  C2HLS_ENFORCEMENT  ·  comparison 1  ·  not rank-1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Skill pack 4. Overlap / ping-pong 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17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868680"/>
          <a:ext cx="113385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520"/>
                <a:gridCol w="71780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Skill id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hls-overlap-fuse-crow-init-drain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Delete init_pe_j / wb_pe_j. First k-group writes; last k-group writes C. Same 16×4 MAC.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hls-overlap-pingpong-dataflow-on-pe-array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INLINE-off load_tile / compute_tile / store_tile. Outer i-tile wraps DATAFLOW. buf[2] A/C. Keep one compute_tile.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avoid-overlap-stream-pe-fifo-pack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Reject mm_pe + packed FIFO chain in this ablation. That is pack 3, already measured.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3794760"/>
            <a:ext cx="11338560" cy="2468880"/>
          </a:xfrm>
          <a:prstGeom prst="rect">
            <a:avLst/>
          </a:prstGeom>
          <a:solidFill>
            <a:srgbClr val="F4F1EA"/>
          </a:solidFill>
          <a:ln w="15875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Judge: ping-pong DATAFLOW present on code and csynth (20260829_123043).
Finish time 12 893 / 320 DSP — still load + compute + store. Overlap gate fails.
Aug 23 overlap seed 8678 / 320: architecture gate fail (coarse tiles, inner stretches restart).
A DATAFLOW pragma is not hide load-store. Rank-1 interval ≈ latency because of K-tiles, B ping-pong, and C drain.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flash_onchip_wide_gemm_skill_entries.json  ·  PACKAGED_SKILLS_ONLY=1  ·  comparison 2  ·  not mixed into the 90-skill dump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Skill pack 5. On-chip spend-DSP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18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841248"/>
          <a:ext cx="11338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520"/>
                <a:gridCol w="7178040"/>
              </a:tblGrid>
              <a:tr h="2641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Skill id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</a:tr>
              <a:tr h="264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hls-onchip-stage-when-fits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Stage all of A and B; compute into C_local; never touch m_axi in compute. 64³ float fits.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hls-onchip-axi-512-three-bundles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gmem0/1/2, max_widen_bitwidth=512, LANES=16. Load/store trip ≈ 256, not 4096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4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hls-onchip-write-once-affine-c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Nested affine i / j+=PE_BLK. C_local[row][j0+p]=dot. No g&gt;&gt;k, no C RMW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hls-onchip-flatten-c-output-groups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One II=1 pipeline over I×(J/PE_BLK) groups. PE_BLK 16/32/64 after II=1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4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hls-onchip-full-k-unroll-adder-tree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Full UNROLL k into partial sums then a tree. Not a serial FP acc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hls-onchip-partition-match-unroll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A_local complete on K; B_local enough for PE_BLK; C_local complete on J group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4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avoid-onchip-dataflow-when-io-matches-compute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Reject DATAFLOW/ping-pong when compute ≈ 512-bit load window. 940 = max(A,B)+compute+store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avoid-onchip-kernel0-systolic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Keep autosa_mm ABI. Do not emit kernel0 / L2 FIFOs / mm_pe chain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534924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C52"/>
                </a:solidFill>
                <a:latin typeface="Calibri"/>
              </a:rPr>
              <a:t>Champion class: 940 / 5344, Cosim PASS 1071. Nested i / j+=LANES; two independent load modules.
Fusion of A+B in one linearized-t loop is a failure mode (871 csynth / 1224 cosim) — not the champion, not comparison 1.
JSON on disk also has later entries (avoid-onchip-fused-ab-lockstep, avoid-onchip-dsp-over-u280, row-uf, K-tile under DSP cap). Distilled 8 above are the 940-class pack.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Comparison 2  ·  flash-only  ·  not a fair beat of 4228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8. Flash must stop under-using DSP  —  one change per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19 / 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868680"/>
          <a:ext cx="1133856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4160520"/>
          <a:ext cx="1133856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06040"/>
                <a:gridCol w="960120"/>
                <a:gridCol w="822960"/>
                <a:gridCol w="4069080"/>
              </a:tblGrid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Step (one change)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Campaign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DSP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Then the report said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DSP floor 500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…_dsp500_20260904_085931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9423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1344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More MACs. Load/store still ~4k. LCST.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512-bit A/B/C, LANES=16, gmem0/1/2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…_wideio_20260904_100437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2760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636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I/O ~258. Compute 2099, Final II=4 (g&gt;&gt;k + C RMW).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Affine i, j+=PE; C_local=dot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…_computeii_20260904_120524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1261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2672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Compute II=1.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7066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PE_BLK=16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…_pe16_20260904_131622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940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5344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Two load modules. Type no. Cosim PASS 1071.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2636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  <a:latin typeface="Calibri"/>
              </a:rPr>
              <a:t>Ladder ends at PE_BLK=16. j-tile ping-pong and LLM tile-pp were worse (not shown).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Comparison 2  ·  PE_BLK=16  ·  5344 DSP  ·  do not place beside 4228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Tiling C. Spend-DSP champion is not systolic tiles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20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868680"/>
            <a:ext cx="5623560" cy="5532120"/>
          </a:xfrm>
          <a:prstGeom prst="rect">
            <a:avLst/>
          </a:prstGeom>
          <a:solidFill>
            <a:srgbClr val="F4F1EA"/>
          </a:solidFill>
          <a:ln w="12700">
            <a:solidFill>
              <a:srgbClr val="C8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960120"/>
            <a:ext cx="5440680" cy="365760"/>
          </a:xfrm>
          <a:prstGeom prst="rect">
            <a:avLst/>
          </a:prstGeom>
          <a:solidFill>
            <a:srgbClr val="0F2C52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Champion  ·  nested i / j += LANES  ·  940 csynth / 1071 cosim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Not Design 1. No K-tiles. No B ping-pong. No mm_pe FIFOs. Full A, B, C staged on-chip (64³ float fits).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Nested load: for i … for j += LANES=16. Two independent load functions (separate stall domains).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06040"/>
            <a:ext cx="2331720" cy="1051560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300" b="1" i="0">
                <a:solidFill>
                  <a:srgbClr val="0F2C52"/>
                </a:solidFill>
                <a:latin typeface="Calibri"/>
              </a:rPr>
              <a:t>load_A
259 cycles
FF 540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606040"/>
            <a:ext cx="2331720" cy="1051560"/>
          </a:xfrm>
          <a:prstGeom prst="rect">
            <a:avLst/>
          </a:prstGeom>
          <a:solidFill>
            <a:srgbClr val="C5D4E8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300" b="1" i="0">
                <a:solidFill>
                  <a:srgbClr val="0F2C52"/>
                </a:solidFill>
                <a:latin typeface="Calibri"/>
              </a:rPr>
              <a:t>load_B
258 cycles
started together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0332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  <a:latin typeface="Calibri"/>
              </a:rPr>
              <a:t>max(259, 258)  then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931920"/>
            <a:ext cx="48920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200" b="1" i="0">
                <a:solidFill>
                  <a:srgbClr val="0F2C52"/>
                </a:solidFill>
                <a:latin typeface="Calibri"/>
              </a:rPr>
              <a:t>compute_blocks   340   ·  PE_BLK=16  ·  full-K adder tree  ·  5344 DSP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663440"/>
            <a:ext cx="48920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200" b="1" i="0">
                <a:solidFill>
                  <a:srgbClr val="0F2C52"/>
                </a:solidFill>
                <a:latin typeface="Calibri"/>
              </a:rPr>
              <a:t>store_C   260   ·  WREADY in-loop; BVALID at parent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94960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C52"/>
                </a:solidFill>
                <a:latin typeface="Calibri"/>
              </a:rPr>
              <a:t>940 ≈ max(259, 258) + 340 + 260. Pipeline type: no. AXI 512-bit, three bundles, latency=32.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868680"/>
            <a:ext cx="5577840" cy="5532120"/>
          </a:xfrm>
          <a:prstGeom prst="rect">
            <a:avLst/>
          </a:prstGeom>
          <a:solidFill>
            <a:srgbClr val="F4F1EA"/>
          </a:solidFill>
          <a:ln w="12700">
            <a:solidFill>
              <a:srgbClr val="C8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960120"/>
            <a:ext cx="5394960" cy="365760"/>
          </a:xfrm>
          <a:prstGeom prst="rect">
            <a:avLst/>
          </a:prstGeom>
          <a:solidFill>
            <a:srgbClr val="8B1E1E"/>
          </a:solidFill>
          <a:ln w="15875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Failure mode  ·  fused linearized-t load  ·  not the champion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4173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8B1E1E"/>
                </a:solidFill>
                <a:latin typeface="Calibri"/>
              </a:rPr>
              <a:t>8-skill 7-turn 20260906_104733: 871 csynth / 5088 DSP, Cosim PASS 1224.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A and B in one II=1 loop over linearized t. Csynth priced lockstep II=1; RTL stalls if either gmem0 or gmem1 RVALID/ARREADY is 0.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2926080"/>
            <a:ext cx="512064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300" b="1" i="0">
                <a:solidFill>
                  <a:srgbClr val="8B1E1E"/>
                </a:solidFill>
                <a:latin typeface="Calibri"/>
              </a:rPr>
              <a:t>one fused load_ab loop
linearized t
~132 k FF in load vs champion load_A 540 FF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406908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200" b="1" i="0">
                <a:solidFill>
                  <a:srgbClr val="0F2C52"/>
                </a:solidFill>
                <a:latin typeface="Calibri"/>
              </a:rPr>
              <a:t>store waits BVALID inside the pipeline
Cosim 1224  &gt;  champion Cosim 1071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9834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Repro 20260906_123340: 1002 / 5344, split load_a/load_b, still linearized t — not nested i / j+=LANES. Fusion is model invention, not instructed. Do not put 871 on the 4228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Report: autosa_mm_csynth.rpt  ·  4 Sep 2026 15:33  ·  Vitis HLS 2023.2  ·  comparison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Latency per module  —  PE_BLK=16 champion (csynth)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21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914400"/>
          <a:ext cx="1133856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3063240"/>
                <a:gridCol w="1554480"/>
                <a:gridCol w="1234440"/>
                <a:gridCol w="960120"/>
                <a:gridCol w="1280160"/>
              </a:tblGrid>
              <a:tr h="26822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Instance (csynth)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Latency min–max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Pipeline type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DSP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FF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grp_…_load_A_rows_load_A_cols_fu_17020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Pipeline_load_A_rows_load_A_cols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259–259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540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grp_…_load_B_rows_load_B_cols_fu_17091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Pipeline_load_B_rows_load_B_cols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258–258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131 110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grp_…_compute_blocks_fu_21194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Pipeline_compute_blocks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340–340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5344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615 512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grp_…_store_C_rows_store_C_cols_fu_25422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Pipeline_store_C_rows_store_C_cols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260–260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2668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autosa_mm (kernel)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940–940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5344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765 008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4160520"/>
            <a:ext cx="11338560" cy="640080"/>
          </a:xfrm>
          <a:prstGeom prst="rect">
            <a:avLst/>
          </a:prstGeom>
          <a:solidFill>
            <a:srgbClr val="0F2C52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940  ≈  max(259, 258)  +  340  +  260     ·     load A and load B are two modules, started together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937760"/>
            <a:ext cx="11338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Total resources (same report): BRAM_18K 90  ·  DSP 5344  ·  FF 765 008  ·  LUT 346 116  ·  URAM 0. Available device DSP 9024 (59%). Available SLR DSP 3008 (177% of one SLR) — allowed because comparison 2 asked for device DSP, not iso-320.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Cosim: artifacts/pc2/manual_pe16_tile_pp/cosim_pe16.json  ·  PASS 1071 cycles, gold match. Target clock 3.33 ns; estimated clock is not a comparison metric.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Csynth unless Cosim is named  ·  keep the two comparisons in separate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Module-level latency across designs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22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914400"/>
          <a:ext cx="11338559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1417320"/>
                <a:gridCol w="3977639"/>
                <a:gridCol w="3063240"/>
              </a:tblGrid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Comparison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Modules (cycles)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One-call finish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Compute rewrite 13 160 / 352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  (iso-320)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compute ~4816 II=1; load ~4100; store ~4100 (serial LCST)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sum: load + compute + store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Enforcement 12 893 / 320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DATAFLOW pragma present; rooms still sequential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still load+compute+store; overlap gate fail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Stream 4292 / 4216 / 320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load, 16 PEs, store overlapped; flatten pe_kj 4096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≈ slowest room (hide load-store)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AutoSA rank-1 4228 / 320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K-tiles, B ping-pong, C drain; interval ≈ latency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systolic I/O schedule, not a pragma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648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PE_BLK=16  940 / 5344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  (spend DSP)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load_A 259, load_B 258, compute 340, store 260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max(A,B)+compute+store; Cosim 1071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64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Fused 8-skill 871 csynth / 5088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  (not champion)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fused A+B lockstep; store BVALID in-loop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Cosim PASS 1224 — not 871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571500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C52"/>
                </a:solidFill>
                <a:latin typeface="Calibri"/>
              </a:rPr>
              <a:t>Do not call 871 the champion. Csynth priced fused II=1; RTL did not. Independent load modules (259 ∥ 258) are the 940 I/O shape.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Not step 5 of the spend-DSP ladder  ·  more than one code choice 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Distilled 8-skill pack  —  a separate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23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914400"/>
          <a:ext cx="113385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737360"/>
                <a:gridCol w="1463040"/>
                <a:gridCol w="493776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Csynth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Cosim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I/O shape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8-skill, 7-turn, 20260906_104733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871 / 5088 DSP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PASS 1224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Fused load_ab, linearized t. RTL stalls if either RVALID is 0.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8-skill, 7-turn, 20260906_123340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1002 / 5344 DSP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not run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Split load_a / load_b, still linearized t, not nested i, j+=LANES.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PE=16 champion (ladder endpoint)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940 / 5344 DSP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PASS 1071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Nested i / j+=LANES. Two load modules. Store WREADY only.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3794760"/>
            <a:ext cx="11338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Pack: flash_onchip_wide_gemm_skill_entries.json, PACKAGED_SKILLS_ONLY=1, judges MIN_DSP=500 and PE_BLK=16. Not mixed into the 90-skill dump or frozen mmflow.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Why the LLM fused A and B: the prompt says latency = max(load_A,load_B)+compute+store and “overlapping A/B loads is enough,” and item 6’s trip target is one ~256-cycle load loop. Ignore FLASH item 5 kills DATAFLOW ping-pong, not dual-issue in one loop. Fusion is a reading of overlap, not a hard forbid being ignored.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Iso-compute path  ·  DSP as II proxy on this kernel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9. Stream failures that became avoid-rules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24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914400"/>
          <a:ext cx="11338559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737360"/>
                <a:gridCol w="1005840"/>
                <a:gridCol w="4846320"/>
              </a:tblGrid>
              <a:tr h="26822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Attempt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Cycles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DSP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Failure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Struct-of-floats FIFOs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16 878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Four serialized float reads, II=4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Packed ap_uint&lt;128&gt; only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18 607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Still II=4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Crow complete-partition on J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same class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mux_case_0 FP recurrence, II=4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Crow ram_2p, flatten-off pe_k0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7162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16 k-tiles × 4 i-tiles refill of depth ~35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Flatten pe_kj 1024/4096, fuse init/drain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4285 then 4292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Aug 18 then frozen mmflow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5074920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2"/>
                </a:solidFill>
                <a:latin typeface="Calibri"/>
              </a:rPr>
              <a:t>DSP as II proxy on this kernel: 80 DSP ≈ 16 PEs × ~5 at II=4.  320 DSP ≈ 16 × 20 at II=1.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As requested, not as a hedge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10. Limits and open items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25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914400"/>
          <a:ext cx="113385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223760"/>
              </a:tblGrid>
              <a:tr h="263347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2000" marR="72000" marT="36000" marB="36000">
                    <a:solidFill>
                      <a:srgbClr val="0F2C52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Csynth + csim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Done on all quoted iso-compute numbers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Cosim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Off for mmflow / wave1 / ablation. On for PE=16 champion (1071 PASS) and fused 8-skill kernel (1224 PASS)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Bitstream / P&amp;R / extra HBM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Not done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One model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DeepSeek-v4-flash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Clone AutoSA compiler / emit kernel0 as agent result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Not the method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Iso-compute vs rank-1 Design 1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Closed: 4216–4292 vs 4228 at 320 DSP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Wave1 2%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4/6 pass; intel and getting_started fail after retry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Efficiency vs cand 9 (1846 / ~1296 DSP)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Not closed. Needs K-tile + L1/L2 I/O, not more PEs</a:t>
                      </a:r>
                    </a:p>
                  </a:txBody>
                  <a:tcPr marL="72000" marR="72000" marT="36000" marB="36000">
                    <a:solidFill>
                      <a:srgbClr val="EEF1F6"/>
                    </a:solidFill>
                  </a:tcPr>
                </a:tc>
              </a:tr>
              <a:tr h="263349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Frozen artifacts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Do not overwrite 20260830_mmflow, 32×8, family C first campaign, Aug 18 / Sep 2 briefs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3A"/>
                </a:solidFill>
                <a:latin typeface="Calibri"/>
              </a:rPr>
              <a:t>One kernel  ·  two comparisons  ·  one variation per step on spend-DSP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to take from the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11112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c2hls  ·  autosa_mm vs AutoSA rank-1  ·  U280 3.33 ns  ·  Vitis HLS 2023.2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6111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26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896112"/>
            <a:ext cx="384048" cy="384048"/>
          </a:xfrm>
          <a:prstGeom prst="rect">
            <a:avLst/>
          </a:prstGeom>
          <a:solidFill>
            <a:srgbClr val="0F2C52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896112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2"/>
                </a:solidFill>
                <a:latin typeface="Calibri"/>
              </a:rPr>
              <a:t>Iso-compute is closed at Design 1 class.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1338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4216–4292 vs 4228 at 320 DSP. Empty skills JSON still closes if the PE recipe + stream skeleton remain.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64792"/>
            <a:ext cx="384048" cy="384048"/>
          </a:xfrm>
          <a:prstGeom prst="rect">
            <a:avLst/>
          </a:prstGeom>
          <a:solidFill>
            <a:srgbClr val="0F2C52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764792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2"/>
                </a:solidFill>
                <a:latin typeface="Calibri"/>
              </a:rPr>
              <a:t>Generic HLS skills are not the systolic pass.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00253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90-skill flash 139 484 / 10 DSP is a legal kernel with almost no MAC parallelism. Enforcement DATAFLOW+ping-pong is 12 893, not rank-1 I/O.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33472"/>
            <a:ext cx="384048" cy="384048"/>
          </a:xfrm>
          <a:prstGeom prst="rect">
            <a:avLst/>
          </a:prstGeom>
          <a:solidFill>
            <a:srgbClr val="0F2C52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633472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2"/>
                </a:solidFill>
                <a:latin typeface="Calibri"/>
              </a:rPr>
              <a:t>Stream ≠ a DATAFLOW pragma.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87121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Packed ap_uint&lt;128&gt;, Crow ram_2p, flatten pe_kj 4096, A private, B forward, C drain.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502152"/>
            <a:ext cx="384048" cy="384048"/>
          </a:xfrm>
          <a:prstGeom prst="rect">
            <a:avLst/>
          </a:prstGeom>
          <a:solidFill>
            <a:srgbClr val="0F2C52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502152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2"/>
                </a:solidFill>
                <a:latin typeface="Calibri"/>
              </a:rPr>
              <a:t>Rank-1 tiles are 16×32 on I×K, J not coarse-tiled.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73989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array_part[16,64,32], 4 I-tiles, 2 K-tiles, B 64×32 ping-pong, C drain on last K-tile. Frozen agent stream parked full B; still 4292.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70832"/>
            <a:ext cx="384048" cy="384048"/>
          </a:xfrm>
          <a:prstGeom prst="rect">
            <a:avLst/>
          </a:prstGeom>
          <a:solidFill>
            <a:srgbClr val="0F2C52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370832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2"/>
                </a:solidFill>
                <a:latin typeface="Calibri"/>
              </a:rPr>
              <a:t>Spend-DSP is a different experiment.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60857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940 ≈ max(259,258)+340+260 at 5344 DSP. Cosim 1071. Not a fair beat of 4228. 871 csynth is not the RTL finish 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239512"/>
            <a:ext cx="384048" cy="384048"/>
          </a:xfrm>
          <a:prstGeom prst="rect">
            <a:avLst/>
          </a:prstGeom>
          <a:solidFill>
            <a:srgbClr val="0F2C52"/>
          </a:solidFill>
          <a:ln w="15875">
            <a:solidFill>
              <a:srgbClr val="0F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239512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2"/>
                </a:solidFill>
                <a:latin typeface="Calibri"/>
              </a:rPr>
              <a:t>Cand-9 efficiency is not closed.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4772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1846–2161 / ~1296 DSP needs K-tile + L1/L2 I/O, not more PEs.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