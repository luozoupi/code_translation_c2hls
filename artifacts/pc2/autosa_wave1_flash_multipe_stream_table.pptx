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11430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B3A4B"/>
                </a:solidFill>
                <a:latin typeface="Calibri"/>
              </a:rPr>
              <a:t>Flash  →  Multi-PE  →  Stream   on AutoSA 64³ GEMM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12064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C6570"/>
                </a:solidFill>
                <a:latin typeface="Calibri"/>
              </a:rPr>
              <a:t>DeepSeek-v4-flash  ·  Alveo U280  ·  3.33 ns  ·  scored kernel is Stream  ·  gate: Stream ≤ Rank1 × 1.02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7472" y="841248"/>
          <a:ext cx="11484862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2084831"/>
                <a:gridCol w="2084831"/>
                <a:gridCol w="2212848"/>
                <a:gridCol w="1993392"/>
                <a:gridCol w="1536192"/>
              </a:tblGrid>
              <a:tr h="634365"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Benchmark</a:t>
                      </a:r>
                    </a:p>
                  </a:txBody>
                  <a:tcPr anchor="ctr">
                    <a:solidFill>
                      <a:srgbClr val="1B3A4B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Flash</a:t>
                      </a:r>
                    </a:p>
                  </a:txBody>
                  <a:tcPr anchor="ctr">
                    <a:solidFill>
                      <a:srgbClr val="1B3A4B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Multi-PE</a:t>
                      </a:r>
                    </a:p>
                  </a:txBody>
                  <a:tcPr anchor="ctr">
                    <a:solidFill>
                      <a:srgbClr val="1B3A4B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Stream</a:t>
                      </a:r>
                    </a:p>
                  </a:txBody>
                  <a:tcPr anchor="ctr">
                    <a:solidFill>
                      <a:srgbClr val="163448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Rank1</a:t>
                      </a:r>
                    </a:p>
                  </a:txBody>
                  <a:tcPr anchor="ctr">
                    <a:solidFill>
                      <a:srgbClr val="1B3A4B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vs Rank1</a:t>
                      </a:r>
                    </a:p>
                  </a:txBody>
                  <a:tcPr anchor="ctr">
                    <a:solidFill>
                      <a:srgbClr val="1B3A4B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</a:tr>
              <a:tr h="634365">
                <a:tc>
                  <a:txBody>
                    <a:bodyPr wrap="square" lIns="36576" rIns="36576" tIns="27432" bIns="27432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B3A4B"/>
                          </a:solidFill>
                          <a:latin typeface="Calibri"/>
                        </a:rPr>
                        <a:t>mm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24,745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1 PE  ·  80 DSP  ·  II=1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13,160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16 PE  ·  352 DSP  ·  II=1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4,299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16 PE  ·  352 DSP  ·  II=1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4,228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16 PE  ·  320 DSP</a:t>
                      </a:r>
                    </a:p>
                  </a:txBody>
                  <a:tcPr anchor="ctr">
                    <a:solidFill>
                      <a:srgbClr val="F3F4F6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6B3A"/>
                          </a:solidFill>
                          <a:latin typeface="Calibri"/>
                        </a:rPr>
                        <a:t>+1.7%</a:t>
                      </a:r>
                    </a:p>
                  </a:txBody>
                  <a:tcPr anchor="ctr">
                    <a:solidFill>
                      <a:srgbClr val="DCEFD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</a:tr>
              <a:tr h="634365">
                <a:tc>
                  <a:txBody>
                    <a:bodyPr wrap="square" lIns="36576" rIns="36576" tIns="27432" bIns="27432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B3A4B"/>
                          </a:solidFill>
                          <a:latin typeface="Calibri"/>
                        </a:rPr>
                        <a:t>mm_hcl*</a:t>
                      </a:r>
                    </a:p>
                  </a:txBody>
                  <a:tcPr anchor="ctr">
                    <a:solidFill>
                      <a:srgbClr val="F7F8F9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33,357*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1 PE  ·  40 DSP  ·  II=8</a:t>
                      </a:r>
                    </a:p>
                  </a:txBody>
                  <a:tcPr anchor="ctr">
                    <a:solidFill>
                      <a:srgbClr val="EBE6DC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12,770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32 PE  ·  384 DSP  ·  II=1</a:t>
                      </a:r>
                    </a:p>
                  </a:txBody>
                  <a:tcPr anchor="ctr">
                    <a:solidFill>
                      <a:srgbClr val="E4EC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4,294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32 PE  ·  320 DSP  ·  II=1</a:t>
                      </a:r>
                    </a:p>
                  </a:txBody>
                  <a:tcPr anchor="ctr">
                    <a:solidFill>
                      <a:srgbClr val="C9DC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4,230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32 PE  ·  320 DSP</a:t>
                      </a:r>
                    </a:p>
                  </a:txBody>
                  <a:tcPr anchor="ctr">
                    <a:solidFill>
                      <a:srgbClr val="EAEBE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6B3A"/>
                          </a:solidFill>
                          <a:latin typeface="Calibri"/>
                        </a:rPr>
                        <a:t>+1.5%</a:t>
                      </a:r>
                    </a:p>
                  </a:txBody>
                  <a:tcPr anchor="ctr">
                    <a:solidFill>
                      <a:srgbClr val="DCEFD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</a:tr>
              <a:tr h="634365">
                <a:tc>
                  <a:txBody>
                    <a:bodyPr wrap="square" lIns="36576" rIns="36576" tIns="27432" bIns="27432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B3A4B"/>
                          </a:solidFill>
                          <a:latin typeface="Calibri"/>
                        </a:rPr>
                        <a:t>mm_hcl_intel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35,085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1 PE  ·  48 DSP  ·  II=4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17,485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16 PE  ·  352 DSP  ·  II=1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4,292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16 PE  ·  320 DSP  ·  II=1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4,226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16 PE  ·  320 DSP</a:t>
                      </a:r>
                    </a:p>
                  </a:txBody>
                  <a:tcPr anchor="ctr">
                    <a:solidFill>
                      <a:srgbClr val="F3F4F6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6B3A"/>
                          </a:solidFill>
                          <a:latin typeface="Calibri"/>
                        </a:rPr>
                        <a:t>+1.6%</a:t>
                      </a:r>
                    </a:p>
                  </a:txBody>
                  <a:tcPr anchor="ctr">
                    <a:solidFill>
                      <a:srgbClr val="DCEFD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</a:tr>
              <a:tr h="634365">
                <a:tc>
                  <a:txBody>
                    <a:bodyPr wrap="square" lIns="36576" rIns="36576" tIns="27432" bIns="27432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B3A4B"/>
                          </a:solidFill>
                          <a:latin typeface="Calibri"/>
                        </a:rPr>
                        <a:t>mm_int16</a:t>
                      </a:r>
                    </a:p>
                  </a:txBody>
                  <a:tcPr anchor="ctr">
                    <a:solidFill>
                      <a:srgbClr val="F7F8F9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4,509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1 PE  ·  64 DSP  ·  II=1</a:t>
                      </a:r>
                    </a:p>
                  </a:txBody>
                  <a:tcPr anchor="ctr">
                    <a:solidFill>
                      <a:srgbClr val="EBE6DC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8,626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32 PE  ·  64 DSP  ·  II=1</a:t>
                      </a:r>
                    </a:p>
                  </a:txBody>
                  <a:tcPr anchor="ctr">
                    <a:solidFill>
                      <a:srgbClr val="E4EC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4,280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32 PE  ·  64 DSP  ·  II=1</a:t>
                      </a:r>
                    </a:p>
                  </a:txBody>
                  <a:tcPr anchor="ctr">
                    <a:solidFill>
                      <a:srgbClr val="C9DC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4,219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32 PE  ·  64 DSP</a:t>
                      </a:r>
                    </a:p>
                  </a:txBody>
                  <a:tcPr anchor="ctr">
                    <a:solidFill>
                      <a:srgbClr val="EAEBE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6B3A"/>
                          </a:solidFill>
                          <a:latin typeface="Calibri"/>
                        </a:rPr>
                        <a:t>+1.4%</a:t>
                      </a:r>
                    </a:p>
                  </a:txBody>
                  <a:tcPr anchor="ctr">
                    <a:solidFill>
                      <a:srgbClr val="DCEFD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</a:tr>
              <a:tr h="634365">
                <a:tc>
                  <a:txBody>
                    <a:bodyPr wrap="square" lIns="36576" rIns="36576" tIns="27432" bIns="27432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B3A4B"/>
                          </a:solidFill>
                          <a:latin typeface="Calibri"/>
                        </a:rPr>
                        <a:t>mm_catapult*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32,916*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1 PE  ·  24 DSP  ·  II=8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17,688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8 PE  ·  96 DSP  ·  II=1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8,351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8 PE  ·  96 DSP  ·  II=1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8,286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8 PE  ·  96 DSP</a:t>
                      </a:r>
                    </a:p>
                  </a:txBody>
                  <a:tcPr anchor="ctr">
                    <a:solidFill>
                      <a:srgbClr val="F3F4F6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6B3A"/>
                          </a:solidFill>
                          <a:latin typeface="Calibri"/>
                        </a:rPr>
                        <a:t>+0.8%</a:t>
                      </a:r>
                    </a:p>
                  </a:txBody>
                  <a:tcPr anchor="ctr">
                    <a:solidFill>
                      <a:srgbClr val="DCEFD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</a:tr>
              <a:tr h="634365">
                <a:tc>
                  <a:txBody>
                    <a:bodyPr wrap="square" lIns="36576" rIns="36576" tIns="27432" bIns="27432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B3A4B"/>
                          </a:solidFill>
                          <a:latin typeface="Calibri"/>
                        </a:rPr>
                        <a:t>mm_intel†</a:t>
                      </a:r>
                    </a:p>
                  </a:txBody>
                  <a:tcPr anchor="ctr">
                    <a:solidFill>
                      <a:srgbClr val="F7F8F9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29,457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1 PE  ·  64 DSP  ·  II=4</a:t>
                      </a:r>
                    </a:p>
                  </a:txBody>
                  <a:tcPr anchor="ctr">
                    <a:solidFill>
                      <a:srgbClr val="EBE6DC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10,750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32 PE  ·  704 DSP  ·  II=1</a:t>
                      </a:r>
                    </a:p>
                  </a:txBody>
                  <a:tcPr anchor="ctr">
                    <a:solidFill>
                      <a:srgbClr val="E4EC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4,308†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32 PE  ·  640 DSP  ·  II=1</a:t>
                      </a:r>
                    </a:p>
                  </a:txBody>
                  <a:tcPr anchor="ctr">
                    <a:solidFill>
                      <a:srgbClr val="C9DC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4,178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32 PE  ·  640 DSP</a:t>
                      </a:r>
                    </a:p>
                  </a:txBody>
                  <a:tcPr anchor="ctr">
                    <a:solidFill>
                      <a:srgbClr val="EAEBE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A32D2D"/>
                          </a:solidFill>
                          <a:latin typeface="Calibri"/>
                        </a:rPr>
                        <a:t>+3.1%</a:t>
                      </a:r>
                    </a:p>
                  </a:txBody>
                  <a:tcPr anchor="ctr">
                    <a:solidFill>
                      <a:srgbClr val="F8D7D4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</a:tr>
              <a:tr h="634365">
                <a:tc>
                  <a:txBody>
                    <a:bodyPr wrap="square" lIns="36576" rIns="36576" tIns="27432" bIns="27432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B3A4B"/>
                          </a:solidFill>
                          <a:latin typeface="Calibri"/>
                        </a:rPr>
                        <a:t>mm_getting_started†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12,588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1 PE  ·  352 DSP  ·  II=1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10,750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32 PE  ·  704 DSP  ·  II=1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4,307†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32 PE  ·  640 DSP  ·  II=1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2,194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C6570"/>
                          </a:solidFill>
                          <a:latin typeface="Calibri"/>
                        </a:rPr>
                        <a:t>32 PE  ·  640 DSP</a:t>
                      </a:r>
                    </a:p>
                  </a:txBody>
                  <a:tcPr anchor="ctr">
                    <a:solidFill>
                      <a:srgbClr val="F3F4F6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A32D2D"/>
                          </a:solidFill>
                          <a:latin typeface="Calibri"/>
                        </a:rPr>
                        <a:t>+96%</a:t>
                      </a:r>
                    </a:p>
                  </a:txBody>
                  <a:tcPr anchor="ctr">
                    <a:solidFill>
                      <a:srgbClr val="F8D7D4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598932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C6570"/>
                </a:solidFill>
                <a:latin typeface="Calibri"/>
              </a:rPr>
              <a:t>II = compute-loop pipeline initiation interval (pe_kj / accumulate / flattened i×j). Flash has no PE array (PE = 1).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C6570"/>
                </a:solidFill>
                <a:latin typeface="Calibri"/>
              </a:rPr>
              <a:t>* Flash returned no code; number is the phase-B seed.   † Stream still serializes two i-tiles inside DATAFLOW (II=1 on pe_kj, latency ≈ 2× rank1 for getting_started).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C6570"/>
                </a:solidFill>
                <a:latin typeface="Calibri"/>
              </a:rPr>
              <a:t>mm is the Aug 23 gf cell (4,299), not the Aug 18 nav_n 4,285.  SIMD: mm/hcl_intel 4 · hcl/int16 2 · intel/getting_started 4 · catapult 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46304"/>
            <a:ext cx="11612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3A4B"/>
                </a:solidFill>
                <a:latin typeface="Calibri"/>
              </a:rPr>
              <a:t>Same table, expanded columns  ·  cycles / PE / DSP /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457200"/>
            <a:ext cx="11612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C6570"/>
                </a:solidFill>
                <a:latin typeface="Calibri"/>
              </a:rPr>
              <a:t>U280 3.33 ns csynth  ·  copy this grid into a paper or spreadsheet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6032" y="731520"/>
          <a:ext cx="11686024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862"/>
                <a:gridCol w="689667"/>
                <a:gridCol w="689667"/>
                <a:gridCol w="689667"/>
                <a:gridCol w="689667"/>
                <a:gridCol w="689667"/>
                <a:gridCol w="689667"/>
                <a:gridCol w="689667"/>
                <a:gridCol w="689667"/>
                <a:gridCol w="747139"/>
                <a:gridCol w="555565"/>
                <a:gridCol w="593880"/>
                <a:gridCol w="478935"/>
                <a:gridCol w="689667"/>
                <a:gridCol w="498093"/>
                <a:gridCol w="593880"/>
                <a:gridCol w="689667"/>
              </a:tblGrid>
              <a:tr h="594360">
                <a:tc rowSpan="2"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Benchmark</a:t>
                      </a:r>
                    </a:p>
                  </a:txBody>
                  <a:tcPr anchor="ctr">
                    <a:solidFill>
                      <a:srgbClr val="1B3A4B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 gridSpan="4"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Flash</a:t>
                      </a:r>
                    </a:p>
                  </a:txBody>
                  <a:tcPr anchor="ctr">
                    <a:solidFill>
                      <a:srgbClr val="3D4F3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Multi-PE</a:t>
                      </a:r>
                    </a:p>
                  </a:txBody>
                  <a:tcPr anchor="ctr">
                    <a:solidFill>
                      <a:srgbClr val="2C4A5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Stream</a:t>
                      </a:r>
                    </a:p>
                  </a:txBody>
                  <a:tcPr anchor="ctr">
                    <a:solidFill>
                      <a:srgbClr val="163448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Rank1</a:t>
                      </a:r>
                    </a:p>
                  </a:txBody>
                  <a:tcPr anchor="ctr">
                    <a:solidFill>
                      <a:srgbClr val="4A4E55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vs Rank1</a:t>
                      </a:r>
                    </a:p>
                  </a:txBody>
                  <a:tcPr anchor="ctr">
                    <a:solidFill>
                      <a:srgbClr val="1B3A4B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</a:tr>
              <a:tr h="5943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B3A4B"/>
                          </a:solidFill>
                          <a:latin typeface="Calibri"/>
                        </a:rPr>
                        <a:t>cyc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B3A4B"/>
                          </a:solidFill>
                          <a:latin typeface="Calibri"/>
                        </a:rPr>
                        <a:t>PE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B3A4B"/>
                          </a:solidFill>
                          <a:latin typeface="Calibri"/>
                        </a:rPr>
                        <a:t>DSP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B3A4B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B3A4B"/>
                          </a:solidFill>
                          <a:latin typeface="Calibri"/>
                        </a:rPr>
                        <a:t>cyc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B3A4B"/>
                          </a:solidFill>
                          <a:latin typeface="Calibri"/>
                        </a:rPr>
                        <a:t>PE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B3A4B"/>
                          </a:solidFill>
                          <a:latin typeface="Calibri"/>
                        </a:rPr>
                        <a:t>DSP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B3A4B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B3A4B"/>
                          </a:solidFill>
                          <a:latin typeface="Calibri"/>
                        </a:rPr>
                        <a:t>cyc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B3A4B"/>
                          </a:solidFill>
                          <a:latin typeface="Calibri"/>
                        </a:rPr>
                        <a:t>PE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B3A4B"/>
                          </a:solidFill>
                          <a:latin typeface="Calibri"/>
                        </a:rPr>
                        <a:t>DSP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B3A4B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B3A4B"/>
                          </a:solidFill>
                          <a:latin typeface="Calibri"/>
                        </a:rPr>
                        <a:t>cyc</a:t>
                      </a:r>
                    </a:p>
                  </a:txBody>
                  <a:tcPr anchor="ctr">
                    <a:solidFill>
                      <a:srgbClr val="F3F4F6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B3A4B"/>
                          </a:solidFill>
                          <a:latin typeface="Calibri"/>
                        </a:rPr>
                        <a:t>PE</a:t>
                      </a:r>
                    </a:p>
                  </a:txBody>
                  <a:tcPr anchor="ctr">
                    <a:solidFill>
                      <a:srgbClr val="F3F4F6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B3A4B"/>
                          </a:solidFill>
                          <a:latin typeface="Calibri"/>
                        </a:rPr>
                        <a:t>DSP</a:t>
                      </a:r>
                    </a:p>
                  </a:txBody>
                  <a:tcPr anchor="ctr">
                    <a:solidFill>
                      <a:srgbClr val="F3F4F6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594360">
                <a:tc>
                  <a:txBody>
                    <a:bodyPr wrap="square" lIns="36576" rIns="36576" tIns="27432" bIns="27432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mm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24,745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13,160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352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4,299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352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4,228</a:t>
                      </a:r>
                    </a:p>
                  </a:txBody>
                  <a:tcPr anchor="ctr">
                    <a:solidFill>
                      <a:srgbClr val="F3F4F6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>
                    <a:solidFill>
                      <a:srgbClr val="F3F4F6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anchor="ctr">
                    <a:solidFill>
                      <a:srgbClr val="F3F4F6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6B3A"/>
                          </a:solidFill>
                          <a:latin typeface="Calibri"/>
                        </a:rPr>
                        <a:t>+1.7%</a:t>
                      </a:r>
                    </a:p>
                  </a:txBody>
                  <a:tcPr anchor="ctr">
                    <a:solidFill>
                      <a:srgbClr val="DCEFD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wrap="square" lIns="36576" rIns="36576" tIns="27432" bIns="27432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mm_hcl*</a:t>
                      </a:r>
                    </a:p>
                  </a:txBody>
                  <a:tcPr anchor="ctr">
                    <a:solidFill>
                      <a:srgbClr val="F7F8F9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33,357*</a:t>
                      </a:r>
                    </a:p>
                  </a:txBody>
                  <a:tcPr anchor="ctr">
                    <a:solidFill>
                      <a:srgbClr val="EBE6DC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BE6DC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>
                    <a:solidFill>
                      <a:srgbClr val="EBE6DC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EBE6DC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12,770</a:t>
                      </a:r>
                    </a:p>
                  </a:txBody>
                  <a:tcPr anchor="ctr">
                    <a:solidFill>
                      <a:srgbClr val="E4EC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>
                    <a:solidFill>
                      <a:srgbClr val="E4EC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384</a:t>
                      </a:r>
                    </a:p>
                  </a:txBody>
                  <a:tcPr anchor="ctr">
                    <a:solidFill>
                      <a:srgbClr val="E4EC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4EC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4,294</a:t>
                      </a:r>
                    </a:p>
                  </a:txBody>
                  <a:tcPr anchor="ctr">
                    <a:solidFill>
                      <a:srgbClr val="C9DC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>
                    <a:solidFill>
                      <a:srgbClr val="C9DC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anchor="ctr">
                    <a:solidFill>
                      <a:srgbClr val="C9DC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C9DC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4,230</a:t>
                      </a:r>
                    </a:p>
                  </a:txBody>
                  <a:tcPr anchor="ctr">
                    <a:solidFill>
                      <a:srgbClr val="EAEBE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>
                    <a:solidFill>
                      <a:srgbClr val="EAEBE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anchor="ctr">
                    <a:solidFill>
                      <a:srgbClr val="EAEBE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6B3A"/>
                          </a:solidFill>
                          <a:latin typeface="Calibri"/>
                        </a:rPr>
                        <a:t>+1.5%</a:t>
                      </a:r>
                    </a:p>
                  </a:txBody>
                  <a:tcPr anchor="ctr">
                    <a:solidFill>
                      <a:srgbClr val="DCEFD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wrap="square" lIns="36576" rIns="36576" tIns="27432" bIns="27432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mm_hcl_intel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35,085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17,485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352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4,292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4,226</a:t>
                      </a:r>
                    </a:p>
                  </a:txBody>
                  <a:tcPr anchor="ctr">
                    <a:solidFill>
                      <a:srgbClr val="F3F4F6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>
                    <a:solidFill>
                      <a:srgbClr val="F3F4F6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anchor="ctr">
                    <a:solidFill>
                      <a:srgbClr val="F3F4F6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6B3A"/>
                          </a:solidFill>
                          <a:latin typeface="Calibri"/>
                        </a:rPr>
                        <a:t>+1.6%</a:t>
                      </a:r>
                    </a:p>
                  </a:txBody>
                  <a:tcPr anchor="ctr">
                    <a:solidFill>
                      <a:srgbClr val="DCEFD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wrap="square" lIns="36576" rIns="36576" tIns="27432" bIns="27432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mm_int16</a:t>
                      </a:r>
                    </a:p>
                  </a:txBody>
                  <a:tcPr anchor="ctr">
                    <a:solidFill>
                      <a:srgbClr val="F7F8F9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4,509</a:t>
                      </a:r>
                    </a:p>
                  </a:txBody>
                  <a:tcPr anchor="ctr">
                    <a:solidFill>
                      <a:srgbClr val="EBE6DC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BE6DC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anchor="ctr">
                    <a:solidFill>
                      <a:srgbClr val="EBE6DC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BE6DC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8,626</a:t>
                      </a:r>
                    </a:p>
                  </a:txBody>
                  <a:tcPr anchor="ctr">
                    <a:solidFill>
                      <a:srgbClr val="E4EC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>
                    <a:solidFill>
                      <a:srgbClr val="E4EC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anchor="ctr">
                    <a:solidFill>
                      <a:srgbClr val="E4EC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4EC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4,280</a:t>
                      </a:r>
                    </a:p>
                  </a:txBody>
                  <a:tcPr anchor="ctr">
                    <a:solidFill>
                      <a:srgbClr val="C9DC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>
                    <a:solidFill>
                      <a:srgbClr val="C9DC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anchor="ctr">
                    <a:solidFill>
                      <a:srgbClr val="C9DC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C9DC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4,219</a:t>
                      </a:r>
                    </a:p>
                  </a:txBody>
                  <a:tcPr anchor="ctr">
                    <a:solidFill>
                      <a:srgbClr val="EAEBE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>
                    <a:solidFill>
                      <a:srgbClr val="EAEBE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anchor="ctr">
                    <a:solidFill>
                      <a:srgbClr val="EAEBE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6B3A"/>
                          </a:solidFill>
                          <a:latin typeface="Calibri"/>
                        </a:rPr>
                        <a:t>+1.4%</a:t>
                      </a:r>
                    </a:p>
                  </a:txBody>
                  <a:tcPr anchor="ctr">
                    <a:solidFill>
                      <a:srgbClr val="DCEFD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wrap="square" lIns="36576" rIns="36576" tIns="27432" bIns="27432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mm_catapult*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32,916*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17,688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8,351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8,286</a:t>
                      </a:r>
                    </a:p>
                  </a:txBody>
                  <a:tcPr anchor="ctr">
                    <a:solidFill>
                      <a:srgbClr val="F3F4F6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3F4F6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anchor="ctr">
                    <a:solidFill>
                      <a:srgbClr val="F3F4F6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6B3A"/>
                          </a:solidFill>
                          <a:latin typeface="Calibri"/>
                        </a:rPr>
                        <a:t>+0.8%</a:t>
                      </a:r>
                    </a:p>
                  </a:txBody>
                  <a:tcPr anchor="ctr">
                    <a:solidFill>
                      <a:srgbClr val="DCEFD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wrap="square" lIns="36576" rIns="36576" tIns="27432" bIns="27432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mm_intel†</a:t>
                      </a:r>
                    </a:p>
                  </a:txBody>
                  <a:tcPr anchor="ctr">
                    <a:solidFill>
                      <a:srgbClr val="F7F8F9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29,457</a:t>
                      </a:r>
                    </a:p>
                  </a:txBody>
                  <a:tcPr anchor="ctr">
                    <a:solidFill>
                      <a:srgbClr val="EBE6DC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BE6DC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anchor="ctr">
                    <a:solidFill>
                      <a:srgbClr val="EBE6DC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EBE6DC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10,750</a:t>
                      </a:r>
                    </a:p>
                  </a:txBody>
                  <a:tcPr anchor="ctr">
                    <a:solidFill>
                      <a:srgbClr val="E4EC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>
                    <a:solidFill>
                      <a:srgbClr val="E4EC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704</a:t>
                      </a:r>
                    </a:p>
                  </a:txBody>
                  <a:tcPr anchor="ctr">
                    <a:solidFill>
                      <a:srgbClr val="E4EC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4EC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4,308†</a:t>
                      </a:r>
                    </a:p>
                  </a:txBody>
                  <a:tcPr anchor="ctr">
                    <a:solidFill>
                      <a:srgbClr val="C9DC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>
                    <a:solidFill>
                      <a:srgbClr val="C9DC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640</a:t>
                      </a:r>
                    </a:p>
                  </a:txBody>
                  <a:tcPr anchor="ctr">
                    <a:solidFill>
                      <a:srgbClr val="C9DC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C9DC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4,178</a:t>
                      </a:r>
                    </a:p>
                  </a:txBody>
                  <a:tcPr anchor="ctr">
                    <a:solidFill>
                      <a:srgbClr val="EAEBE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>
                    <a:solidFill>
                      <a:srgbClr val="EAEBE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640</a:t>
                      </a:r>
                    </a:p>
                  </a:txBody>
                  <a:tcPr anchor="ctr">
                    <a:solidFill>
                      <a:srgbClr val="EAEBEE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A32D2D"/>
                          </a:solidFill>
                          <a:latin typeface="Calibri"/>
                        </a:rPr>
                        <a:t>+3.1%</a:t>
                      </a:r>
                    </a:p>
                  </a:txBody>
                  <a:tcPr anchor="ctr">
                    <a:solidFill>
                      <a:srgbClr val="F8D7D4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wrap="square" lIns="36576" rIns="36576" tIns="27432" bIns="27432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mm_getting_started†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12,588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352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4F1EA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10,750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704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EF3F7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4,307†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640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D9E8F2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2,194</a:t>
                      </a:r>
                    </a:p>
                  </a:txBody>
                  <a:tcPr anchor="ctr">
                    <a:solidFill>
                      <a:srgbClr val="F3F4F6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>
                    <a:solidFill>
                      <a:srgbClr val="F3F4F6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640</a:t>
                      </a:r>
                    </a:p>
                  </a:txBody>
                  <a:tcPr anchor="ctr">
                    <a:solidFill>
                      <a:srgbClr val="F3F4F6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A32D2D"/>
                          </a:solidFill>
                          <a:latin typeface="Calibri"/>
                        </a:rPr>
                        <a:t>+96%</a:t>
                      </a:r>
                    </a:p>
                  </a:txBody>
                  <a:tcPr anchor="ctr">
                    <a:solidFill>
                      <a:srgbClr val="F8D7D4"/>
                    </a:solidFill>
                    <a:lnL w="6350" cap="flat" cmpd="sng" algn="ctr">
                      <a:solidFill>
                        <a:srgbClr val="9AA3AB"/>
                      </a:solidFill>
                      <a:prstDash val="solid"/>
                    </a:lnL>
                    <a:lnR w="6350" cap="flat" cmpd="sng" algn="ctr">
                      <a:solidFill>
                        <a:srgbClr val="9AA3AB"/>
                      </a:solidFill>
                      <a:prstDash val="solid"/>
                    </a:lnR>
                    <a:lnT w="6350" cap="flat" cmpd="sng" algn="ctr">
                      <a:solidFill>
                        <a:srgbClr val="9AA3AB"/>
                      </a:solidFill>
                      <a:prstDash val="solid"/>
                    </a:lnT>
                    <a:lnB w="6350" cap="flat" cmpd="sng" algn="ctr">
                      <a:solidFill>
                        <a:srgbClr val="9AA3A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92608" y="6144768"/>
            <a:ext cx="11612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570"/>
                </a:solidFill>
                <a:latin typeface="Calibri"/>
              </a:rPr>
              <a:t>* Phase-B seed (flash returned no code).   † Inner i-tile loop still inside DATAFLOW tasks — stream retry job 2634808.   Gate IN if Stream ≤ Rank1 × 1.02.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570"/>
                </a:solidFill>
                <a:latin typeface="Calibri"/>
              </a:rPr>
              <a:t>PE at Flash = 1 (no array).  Rank1 II = 1 on all seven kernels.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